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76A47C-0E21-427E-B185-4D6E10B49810}">
  <a:tblStyle styleId="{F676A47C-0E21-427E-B185-4D6E10B498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8" name="Google Shape;88;p1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90" name="Google Shape;90;p1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20bcf8ab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b420bcf8a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b420bcf8ab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7" name="Google Shape;107;g3b420bcf8ab_0_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108" name="Google Shape;108;g3b420bcf8ab_0_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09" name="Google Shape;109;g3b420bcf8ab_0_0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29a750eaf_1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b29a750eaf_1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b29a750eaf_1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g3b29a750eaf_1_2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131" name="Google Shape;131;g3b29a750eaf_1_2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32" name="Google Shape;132;g3b29a750eaf_1_23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420bcf8ab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b420bcf8ab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b420bcf8ab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4" name="Google Shape;154;g3b420bcf8ab_0_106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155" name="Google Shape;155;g3b420bcf8ab_0_106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56" name="Google Shape;156;g3b420bcf8ab_0_106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29a750eaf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29a750eaf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b29a750eaf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7" name="Google Shape;177;g3b29a750eaf_1_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178" name="Google Shape;178;g3b29a750eaf_1_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179" name="Google Shape;179;g3b29a750eaf_1_0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24ff804e0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24ff804e0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b24ff804e0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9" name="Google Shape;199;g3b24ff804e0_0_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200" name="Google Shape;200;g3b24ff804e0_0_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201" name="Google Shape;201;g3b24ff804e0_0_3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420bcf8ab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g3b420bcf8ab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b420bcf8ab_0_2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2" name="Google Shape;222;g3b420bcf8ab_0_204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223" name="Google Shape;223;g3b420bcf8ab_0_20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224" name="Google Shape;224;g3b420bcf8ab_0_204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420bcf8ab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b420bcf8ab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g3b420bcf8ab_0_3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7" name="Google Shape;247;g3b420bcf8ab_0_302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248" name="Google Shape;248;g3b420bcf8ab_0_302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249" name="Google Shape;249;g3b420bcf8ab_0_302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420bcf8ab_0_5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3b420bcf8ab_0_5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g3b420bcf8ab_0_5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2" name="Google Shape;272;g3b420bcf8ab_0_500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273" name="Google Shape;273;g3b420bcf8ab_0_500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274" name="Google Shape;274;g3b420bcf8ab_0_500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420bcf8ab_0_5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3b420bcf8ab_0_5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b420bcf8ab_0_5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96" name="Google Shape;296;g3b420bcf8ab_0_545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297" name="Google Shape;297;g3b420bcf8ab_0_54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298" name="Google Shape;298;g3b420bcf8ab_0_545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22" name="Google Shape;322;p14:notes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323" name="Google Shape;323;p14:notes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324" name="Google Shape;324;p14:notes"/>
          <p:cNvSpPr txBox="1"/>
          <p:nvPr>
            <p:ph idx="3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b2b86e324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ab2b86e324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3ab2b86e324_0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6" name="Google Shape;346;g3ab2b86e324_0_23:notes"/>
          <p:cNvSpPr txBox="1"/>
          <p:nvPr>
            <p:ph idx="10" type="dt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23-Jan-2025</a:t>
            </a:r>
            <a:endParaRPr/>
          </a:p>
        </p:txBody>
      </p:sp>
      <p:sp>
        <p:nvSpPr>
          <p:cNvPr id="347" name="Google Shape;347;g3ab2b86e324_0_2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Name of the Faculty</a:t>
            </a:r>
            <a:endParaRPr/>
          </a:p>
        </p:txBody>
      </p:sp>
      <p:sp>
        <p:nvSpPr>
          <p:cNvPr id="348" name="Google Shape;348;g3ab2b86e324_0_23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Title of the Lecture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93" name="Google Shape;93;p1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13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447039" y="2656957"/>
            <a:ext cx="10474353" cy="3287532"/>
            <a:chOff x="447039" y="2656957"/>
            <a:chExt cx="6897768" cy="3287532"/>
          </a:xfrm>
        </p:grpSpPr>
        <p:sp>
          <p:nvSpPr>
            <p:cNvPr id="96" name="Google Shape;96;p13"/>
            <p:cNvSpPr txBox="1"/>
            <p:nvPr/>
          </p:nvSpPr>
          <p:spPr>
            <a:xfrm>
              <a:off x="447039" y="2656957"/>
              <a:ext cx="681679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IN" sz="6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1" i="0" sz="6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467607" y="4158889"/>
              <a:ext cx="6877200" cy="17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Date DD/MM/YYYY</a:t>
              </a:r>
              <a:endParaRPr b="0" i="0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Name of the Presenter:</a:t>
              </a:r>
              <a:endPara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Email Id:</a:t>
              </a:r>
              <a:endParaRPr b="0" i="0" sz="20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Mobile No.:</a:t>
              </a:r>
              <a:endPara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grpSp>
        <p:nvGrpSpPr>
          <p:cNvPr id="98" name="Google Shape;98;p13"/>
          <p:cNvGrpSpPr/>
          <p:nvPr/>
        </p:nvGrpSpPr>
        <p:grpSpPr>
          <a:xfrm>
            <a:off x="529337" y="896634"/>
            <a:ext cx="10824463" cy="891025"/>
            <a:chOff x="529337" y="896634"/>
            <a:chExt cx="10824463" cy="891025"/>
          </a:xfrm>
        </p:grpSpPr>
        <p:pic>
          <p:nvPicPr>
            <p:cNvPr id="99" name="Google Shape;99;p13"/>
            <p:cNvPicPr preferRelativeResize="0"/>
            <p:nvPr/>
          </p:nvPicPr>
          <p:blipFill rotWithShape="1">
            <a:blip r:embed="rId3">
              <a:alphaModFix/>
            </a:blip>
            <a:srcRect b="26057" l="0" r="0" t="27017"/>
            <a:stretch/>
          </p:blipFill>
          <p:spPr>
            <a:xfrm>
              <a:off x="529337" y="896634"/>
              <a:ext cx="1898904" cy="8910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0" name="Google Shape;100;p13"/>
            <p:cNvGrpSpPr/>
            <p:nvPr/>
          </p:nvGrpSpPr>
          <p:grpSpPr>
            <a:xfrm>
              <a:off x="11015286" y="1236138"/>
              <a:ext cx="338514" cy="212015"/>
              <a:chOff x="521095" y="429142"/>
              <a:chExt cx="463644" cy="290385"/>
            </a:xfrm>
          </p:grpSpPr>
          <p:sp>
            <p:nvSpPr>
              <p:cNvPr id="101" name="Google Shape;101;p1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4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5" name="Google Shape;115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 &amp; Department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17" name="Google Shape;117;p14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18" name="Google Shape;118;p14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4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20" name="Google Shape;120;p14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21" name="Google Shape;121;p14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4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3" name="Google Shape;123;p14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Elevator Pitch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50774" y="1698638"/>
            <a:ext cx="110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are you doing which is solving a big problem in a better way than others…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15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35" name="Google Shape;135;p15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 &amp; Department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39" name="Google Shape;139;p15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42" name="Google Shape;142;p15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43" name="Google Shape;143;p15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5" name="Google Shape;145;p15"/>
          <p:cNvSpPr txBox="1"/>
          <p:nvPr/>
        </p:nvSpPr>
        <p:spPr>
          <a:xfrm>
            <a:off x="450774" y="900322"/>
            <a:ext cx="109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Brief Description of your Innovation and Idea 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450774" y="1698638"/>
            <a:ext cx="110724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Problem Statement: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your Innovation?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8" name="Google Shape;148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1184125" y="5975775"/>
            <a:ext cx="91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I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Contd…</a:t>
            </a:r>
            <a:endParaRPr b="0" i="0" sz="12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6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59" name="Google Shape;159;p16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6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 &amp; Department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2" name="Google Shape;162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63" name="Google Shape;163;p16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64" name="Google Shape;164;p16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6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66" name="Google Shape;166;p16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67" name="Google Shape;167;p16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6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9" name="Google Shape;169;p16"/>
          <p:cNvSpPr txBox="1"/>
          <p:nvPr/>
        </p:nvSpPr>
        <p:spPr>
          <a:xfrm>
            <a:off x="450774" y="900322"/>
            <a:ext cx="109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Brief Description of your Innovation and Idea 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450774" y="1698638"/>
            <a:ext cx="110724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your Proposed Solution?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Current Status: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2" name="Google Shape;172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181;p17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182" name="Google Shape;182;p17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7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5" name="Google Shape;185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186" name="Google Shape;186;p17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187" name="Google Shape;187;p17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7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89" name="Google Shape;189;p17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190" name="Google Shape;190;p17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2" name="Google Shape;192;p17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3" name="Google Shape;193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450775" y="933350"/>
            <a:ext cx="11741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IP Landscape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there any IP possibility?, If yes, </a:t>
            </a:r>
            <a:r>
              <a:rPr lang="en-IN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Please provide details on it.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8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04" name="Google Shape;204;p18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8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6" name="Google Shape;206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 &amp; Department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208" name="Google Shape;208;p18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09" name="Google Shape;209;p18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8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11" name="Google Shape;211;p18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12" name="Google Shape;212;p18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18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4" name="Google Shape;214;p18"/>
          <p:cNvSpPr txBox="1"/>
          <p:nvPr/>
        </p:nvSpPr>
        <p:spPr>
          <a:xfrm>
            <a:off x="450774" y="900322"/>
            <a:ext cx="1099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Description of Product/ Process/ Service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450774" y="1698638"/>
            <a:ext cx="110724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Explain how your product/ service adds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Try and explain in layman terms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Ideally, anyone reading this slide should understand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Share any </a:t>
            </a:r>
            <a:r>
              <a:rPr b="0" i="0" lang="en-IN" sz="2000" u="sng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pictures</a:t>
            </a: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IN" sz="2000" u="sng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videos</a:t>
            </a: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b="0" i="0" lang="en-IN" sz="2000" u="sng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designs</a:t>
            </a: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or YouTube links or actual demo of your product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Confidential, finer details are not required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Google Shape;226;p19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9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 &amp; Department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231" name="Google Shape;231;p19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32" name="Google Shape;232;p19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9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34" name="Google Shape;234;p19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9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7" name="Google Shape;237;p19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Value Proposition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450774" y="1698638"/>
            <a:ext cx="11072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so </a:t>
            </a:r>
            <a:r>
              <a:rPr b="1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unique/ novel</a:t>
            </a: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about your product and why should customers buy your product? (Why that difference matters from customer’s perspective?)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50711" y="3111460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Differentiator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450711" y="3909776"/>
            <a:ext cx="110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makes your product/ idea different from others?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" name="Google Shape;242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0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52" name="Google Shape;252;p20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0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4" name="Google Shape;254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5" name="Google Shape;255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256" name="Google Shape;256;p20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57" name="Google Shape;257;p20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0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59" name="Google Shape;259;p20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60" name="Google Shape;260;p20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20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2" name="Google Shape;262;p20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Customer Validation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450774" y="1698638"/>
            <a:ext cx="110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have you done to validate your value proposition? 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450786" y="2900047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Market Opportunity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450786" y="3698363"/>
            <a:ext cx="110724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Define Your Market: What business/space you are 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Total Market Size (TAM-SAM-SOM): Dollar Size, Your Place/Niche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Customers: Clearly define exactly who you serve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Macro Trends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1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277" name="Google Shape;277;p21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0" name="Google Shape;280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281" name="Google Shape;281;p21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282" name="Google Shape;282;p21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1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84" name="Google Shape;284;p21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285" name="Google Shape;285;p21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1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7" name="Google Shape;287;p21"/>
          <p:cNvSpPr txBox="1"/>
          <p:nvPr/>
        </p:nvSpPr>
        <p:spPr>
          <a:xfrm>
            <a:off x="450774" y="900322"/>
            <a:ext cx="49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Competitive Landscape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50711" y="1362013"/>
            <a:ext cx="11072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Who are the others who are doing similar things as you intend to do?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Competition analysis – key competitors, advantage of product/ service over competition etc.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IN" sz="1800" u="sng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Table is indicative, you can increase or decrease number of competitors and/ or features</a:t>
            </a:r>
            <a:endParaRPr b="1" i="0" sz="1800" u="sng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90" name="Google Shape;290;p21"/>
          <p:cNvGraphicFramePr/>
          <p:nvPr/>
        </p:nvGraphicFramePr>
        <p:xfrm>
          <a:off x="450774" y="3032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{F676A47C-0E21-427E-B185-4D6E10B49810}</a:tableStyleId>
              </a:tblPr>
              <a:tblGrid>
                <a:gridCol w="1529425"/>
                <a:gridCol w="1521225"/>
                <a:gridCol w="1943050"/>
                <a:gridCol w="1927575"/>
                <a:gridCol w="1966425"/>
                <a:gridCol w="2184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Your Idea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Competitor 1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Competitor 2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Competitor 3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Competitor 4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4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Features 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4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USP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4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Pricing/ Cost Model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2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4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Any Other feature</a:t>
                      </a:r>
                      <a:endParaRPr b="1"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1" name="Google Shape;29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2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301" name="Google Shape;301;p22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4" name="Google Shape;304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>
                <a:solidFill>
                  <a:srgbClr val="000000"/>
                </a:solidFill>
              </a:rPr>
              <a:t>‹#›</a:t>
            </a:fld>
            <a:endParaRPr>
              <a:solidFill>
                <a:srgbClr val="000000"/>
              </a:solidFill>
            </a:endParaRPr>
          </a:p>
        </p:txBody>
      </p:sp>
      <p:grpSp>
        <p:nvGrpSpPr>
          <p:cNvPr id="305" name="Google Shape;305;p22"/>
          <p:cNvGrpSpPr/>
          <p:nvPr/>
        </p:nvGrpSpPr>
        <p:grpSpPr>
          <a:xfrm>
            <a:off x="450775" y="170727"/>
            <a:ext cx="11072267" cy="441809"/>
            <a:chOff x="450775" y="170727"/>
            <a:chExt cx="11072267" cy="441809"/>
          </a:xfrm>
        </p:grpSpPr>
        <p:pic>
          <p:nvPicPr>
            <p:cNvPr id="306" name="Google Shape;306;p22"/>
            <p:cNvPicPr preferRelativeResize="0"/>
            <p:nvPr/>
          </p:nvPicPr>
          <p:blipFill rotWithShape="1">
            <a:blip r:embed="rId3">
              <a:alphaModFix/>
            </a:blip>
            <a:srcRect b="26056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2"/>
            <p:cNvSpPr txBox="1"/>
            <p:nvPr/>
          </p:nvSpPr>
          <p:spPr>
            <a:xfrm>
              <a:off x="4038600" y="209068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08" name="Google Shape;308;p22"/>
            <p:cNvGrpSpPr/>
            <p:nvPr/>
          </p:nvGrpSpPr>
          <p:grpSpPr>
            <a:xfrm>
              <a:off x="11184535" y="285617"/>
              <a:ext cx="338507" cy="212010"/>
              <a:chOff x="521095" y="429142"/>
              <a:chExt cx="463645" cy="290385"/>
            </a:xfrm>
          </p:grpSpPr>
          <p:sp>
            <p:nvSpPr>
              <p:cNvPr id="309" name="Google Shape;309;p22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>
                <a:off x="771183" y="429142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11" name="Google Shape;311;p22"/>
          <p:cNvSpPr txBox="1"/>
          <p:nvPr/>
        </p:nvSpPr>
        <p:spPr>
          <a:xfrm>
            <a:off x="450776" y="900325"/>
            <a:ext cx="770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Cost Breakup &amp; Funds Requirement 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450774" y="6018926"/>
            <a:ext cx="8471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5066" y="209068"/>
            <a:ext cx="1136330" cy="36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" name="Google Shape;314;p22"/>
          <p:cNvGraphicFramePr/>
          <p:nvPr/>
        </p:nvGraphicFramePr>
        <p:xfrm>
          <a:off x="450775" y="143143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{F676A47C-0E21-427E-B185-4D6E10B49810}</a:tableStyleId>
              </a:tblPr>
              <a:tblGrid>
                <a:gridCol w="387425"/>
                <a:gridCol w="2949725"/>
                <a:gridCol w="2463875"/>
                <a:gridCol w="785050"/>
                <a:gridCol w="1354375"/>
                <a:gridCol w="1353175"/>
                <a:gridCol w="1778650"/>
              </a:tblGrid>
              <a:tr h="628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Details 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Technical Specification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Qty.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Rate per Quantity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 Price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Justification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 gridSpan="7">
                  <a:txBody>
                    <a:bodyPr/>
                    <a:lstStyle/>
                    <a:p>
                      <a:pPr indent="0" lvl="0" marL="2514600" marR="2514600" rtl="0" algn="ctr">
                        <a:lnSpc>
                          <a:spcPct val="11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i="1" lang="en-IN" sz="1600" u="none" cap="none" strike="noStrike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Rows may be added as needed</a:t>
                      </a:r>
                      <a:endParaRPr b="0" sz="1600" u="none" cap="none" strike="noStrike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315" name="Google Shape;315;p22"/>
          <p:cNvSpPr/>
          <p:nvPr/>
        </p:nvSpPr>
        <p:spPr>
          <a:xfrm>
            <a:off x="450713" y="3954540"/>
            <a:ext cx="1107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IN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Note: Total Price per quantity will include GST, Transportation, Installation etc. cost as applicable</a:t>
            </a:r>
            <a:endParaRPr b="0" i="0" sz="16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16" name="Google Shape;316;p22"/>
          <p:cNvGraphicFramePr/>
          <p:nvPr/>
        </p:nvGraphicFramePr>
        <p:xfrm>
          <a:off x="2067438" y="454959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{F676A47C-0E21-427E-B185-4D6E10B49810}</a:tableStyleId>
              </a:tblPr>
              <a:tblGrid>
                <a:gridCol w="811800"/>
                <a:gridCol w="3314000"/>
                <a:gridCol w="3551150"/>
              </a:tblGrid>
              <a:tr h="36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Fund Requirement (₹)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Time Duration (In Months)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 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Total</a:t>
                      </a:r>
                      <a:endParaRPr b="0"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0" marB="0" marR="68575" marL="6857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23"/>
          <p:cNvGrpSpPr/>
          <p:nvPr/>
        </p:nvGrpSpPr>
        <p:grpSpPr>
          <a:xfrm>
            <a:off x="0" y="6347341"/>
            <a:ext cx="12192000" cy="510659"/>
            <a:chOff x="0" y="6347341"/>
            <a:chExt cx="12192000" cy="510659"/>
          </a:xfrm>
        </p:grpSpPr>
        <p:sp>
          <p:nvSpPr>
            <p:cNvPr id="327" name="Google Shape;327;p23"/>
            <p:cNvSpPr/>
            <p:nvPr/>
          </p:nvSpPr>
          <p:spPr>
            <a:xfrm>
              <a:off x="0" y="6374853"/>
              <a:ext cx="12192000" cy="483147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3"/>
            <p:cNvSpPr/>
            <p:nvPr/>
          </p:nvSpPr>
          <p:spPr>
            <a:xfrm flipH="1" rot="10800000">
              <a:off x="0" y="6347341"/>
              <a:ext cx="12192000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0" name="Google Shape;33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grpSp>
        <p:nvGrpSpPr>
          <p:cNvPr id="331" name="Google Shape;331;p23"/>
          <p:cNvGrpSpPr/>
          <p:nvPr/>
        </p:nvGrpSpPr>
        <p:grpSpPr>
          <a:xfrm>
            <a:off x="450775" y="170727"/>
            <a:ext cx="11072282" cy="441809"/>
            <a:chOff x="450775" y="170727"/>
            <a:chExt cx="11072282" cy="441809"/>
          </a:xfrm>
        </p:grpSpPr>
        <p:pic>
          <p:nvPicPr>
            <p:cNvPr id="332" name="Google Shape;332;p23"/>
            <p:cNvPicPr preferRelativeResize="0"/>
            <p:nvPr/>
          </p:nvPicPr>
          <p:blipFill rotWithShape="1">
            <a:blip r:embed="rId3">
              <a:alphaModFix/>
            </a:blip>
            <a:srcRect b="26057" l="0" r="0" t="27017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3" name="Google Shape;333;p23"/>
            <p:cNvSpPr txBox="1"/>
            <p:nvPr/>
          </p:nvSpPr>
          <p:spPr>
            <a:xfrm>
              <a:off x="4038600" y="209068"/>
              <a:ext cx="4114800" cy="365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IN" sz="12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Title of Idea</a:t>
              </a:r>
              <a:endParaRPr b="0" i="0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334" name="Google Shape;334;p23"/>
            <p:cNvGrpSpPr/>
            <p:nvPr/>
          </p:nvGrpSpPr>
          <p:grpSpPr>
            <a:xfrm>
              <a:off x="11184543" y="285624"/>
              <a:ext cx="338514" cy="212015"/>
              <a:chOff x="521095" y="429142"/>
              <a:chExt cx="463644" cy="290385"/>
            </a:xfrm>
          </p:grpSpPr>
          <p:sp>
            <p:nvSpPr>
              <p:cNvPr id="335" name="Google Shape;335;p23"/>
              <p:cNvSpPr/>
              <p:nvPr/>
            </p:nvSpPr>
            <p:spPr>
              <a:xfrm>
                <a:off x="521095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23"/>
              <p:cNvSpPr/>
              <p:nvPr/>
            </p:nvSpPr>
            <p:spPr>
              <a:xfrm>
                <a:off x="771183" y="429142"/>
                <a:ext cx="213556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7" name="Google Shape;337;p23"/>
          <p:cNvSpPr txBox="1"/>
          <p:nvPr/>
        </p:nvSpPr>
        <p:spPr>
          <a:xfrm>
            <a:off x="450775" y="900325"/>
            <a:ext cx="6538500" cy="2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Team Details: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Team Leader: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Course &amp; Year: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Enrollment No.: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Email ID:</a:t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Mobile No.:</a:t>
            </a:r>
            <a:endParaRPr b="1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450774" y="6018926"/>
            <a:ext cx="8471125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IN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Reference: </a:t>
            </a:r>
            <a:r>
              <a:rPr b="0" i="1" lang="en-IN" sz="900" u="none" cap="none" strike="noStrike">
                <a:solidFill>
                  <a:srgbClr val="2B08BE"/>
                </a:solidFill>
                <a:latin typeface="Verdana"/>
                <a:ea typeface="Verdana"/>
                <a:cs typeface="Verdana"/>
                <a:sym typeface="Verdana"/>
              </a:rPr>
              <a:t>Please write / cite the references used (If any) for this slide (Font: Verdana, Size: 09, Color: Black)</a:t>
            </a:r>
            <a:endParaRPr b="0" i="1" sz="2000" u="none" cap="none" strike="noStrike">
              <a:solidFill>
                <a:srgbClr val="2B08B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9" name="Google Shape;3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5066" y="209068"/>
            <a:ext cx="1136330" cy="360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0" name="Google Shape;340;p23"/>
          <p:cNvGraphicFramePr/>
          <p:nvPr/>
        </p:nvGraphicFramePr>
        <p:xfrm>
          <a:off x="392849" y="3312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{F676A47C-0E21-427E-B185-4D6E10B49810}</a:tableStyleId>
              </a:tblPr>
              <a:tblGrid>
                <a:gridCol w="1070650"/>
                <a:gridCol w="1971375"/>
                <a:gridCol w="1630825"/>
                <a:gridCol w="1523325"/>
                <a:gridCol w="2268525"/>
                <a:gridCol w="24319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Name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Course &amp; Sem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Enrollment No.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E mail ID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Mobile No.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Key Responsibility</a:t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F4DE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1" name="Google Shape;341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4"/>
          <p:cNvGrpSpPr/>
          <p:nvPr/>
        </p:nvGrpSpPr>
        <p:grpSpPr>
          <a:xfrm>
            <a:off x="0" y="6347460"/>
            <a:ext cx="12192000" cy="510393"/>
            <a:chOff x="0" y="6347460"/>
            <a:chExt cx="12192000" cy="510393"/>
          </a:xfrm>
        </p:grpSpPr>
        <p:sp>
          <p:nvSpPr>
            <p:cNvPr id="351" name="Google Shape;351;p24"/>
            <p:cNvSpPr/>
            <p:nvPr/>
          </p:nvSpPr>
          <p:spPr>
            <a:xfrm>
              <a:off x="0" y="6374853"/>
              <a:ext cx="12192000" cy="483000"/>
            </a:xfrm>
            <a:prstGeom prst="rect">
              <a:avLst/>
            </a:prstGeom>
            <a:solidFill>
              <a:srgbClr val="3AF4D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4"/>
            <p:cNvSpPr/>
            <p:nvPr/>
          </p:nvSpPr>
          <p:spPr>
            <a:xfrm flipH="1" rot="10800000">
              <a:off x="0" y="6347460"/>
              <a:ext cx="12192000" cy="456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37740">
                  <a:srgbClr val="00B0F0"/>
                </a:gs>
                <a:gs pos="46000">
                  <a:srgbClr val="00B0F0"/>
                </a:gs>
                <a:gs pos="57000">
                  <a:srgbClr val="FFC000"/>
                </a:gs>
                <a:gs pos="74000">
                  <a:srgbClr val="FFC000"/>
                </a:gs>
                <a:gs pos="83000">
                  <a:srgbClr val="FFC000"/>
                </a:gs>
                <a:gs pos="100000">
                  <a:srgbClr val="FFC00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" name="Google Shape;35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354" name="Google Shape;354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Name of the Presenter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55" name="Google Shape;355;p24"/>
          <p:cNvSpPr txBox="1"/>
          <p:nvPr/>
        </p:nvSpPr>
        <p:spPr>
          <a:xfrm>
            <a:off x="450775" y="900325"/>
            <a:ext cx="971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Support required from GUIITAR Council? (If any)</a:t>
            </a:r>
            <a:endParaRPr b="1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356" name="Google Shape;356;p24"/>
          <p:cNvGrpSpPr/>
          <p:nvPr/>
        </p:nvGrpSpPr>
        <p:grpSpPr>
          <a:xfrm>
            <a:off x="450775" y="170727"/>
            <a:ext cx="11599200" cy="6001800"/>
            <a:chOff x="450775" y="170727"/>
            <a:chExt cx="11599200" cy="6001800"/>
          </a:xfrm>
        </p:grpSpPr>
        <p:pic>
          <p:nvPicPr>
            <p:cNvPr id="357" name="Google Shape;357;p24"/>
            <p:cNvPicPr preferRelativeResize="0"/>
            <p:nvPr/>
          </p:nvPicPr>
          <p:blipFill rotWithShape="1">
            <a:blip r:embed="rId3">
              <a:alphaModFix/>
            </a:blip>
            <a:srcRect b="26058" l="0" r="0" t="27014"/>
            <a:stretch/>
          </p:blipFill>
          <p:spPr>
            <a:xfrm>
              <a:off x="450775" y="170727"/>
              <a:ext cx="941559" cy="44180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8" name="Google Shape;358;p24"/>
            <p:cNvGrpSpPr/>
            <p:nvPr/>
          </p:nvGrpSpPr>
          <p:grpSpPr>
            <a:xfrm>
              <a:off x="8547662" y="5866415"/>
              <a:ext cx="338507" cy="212010"/>
              <a:chOff x="11611220" y="1152759"/>
              <a:chExt cx="463645" cy="290385"/>
            </a:xfrm>
          </p:grpSpPr>
          <p:sp>
            <p:nvSpPr>
              <p:cNvPr id="359" name="Google Shape;359;p24"/>
              <p:cNvSpPr/>
              <p:nvPr/>
            </p:nvSpPr>
            <p:spPr>
              <a:xfrm>
                <a:off x="11611220" y="1152759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79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79" y="7169"/>
                    </a:lnTo>
                    <a:lnTo>
                      <a:pt x="5273" y="3576"/>
                    </a:lnTo>
                    <a:lnTo>
                      <a:pt x="1679" y="1"/>
                    </a:lnTo>
                    <a:close/>
                  </a:path>
                </a:pathLst>
              </a:custGeom>
              <a:solidFill>
                <a:srgbClr val="0DE5CB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4"/>
              <p:cNvSpPr/>
              <p:nvPr/>
            </p:nvSpPr>
            <p:spPr>
              <a:xfrm>
                <a:off x="11861308" y="1152759"/>
                <a:ext cx="213557" cy="290385"/>
              </a:xfrm>
              <a:custGeom>
                <a:rect b="b" l="l" r="r" t="t"/>
                <a:pathLst>
                  <a:path extrusionOk="0" h="7170" w="5273">
                    <a:moveTo>
                      <a:pt x="1680" y="1"/>
                    </a:moveTo>
                    <a:lnTo>
                      <a:pt x="0" y="1680"/>
                    </a:lnTo>
                    <a:lnTo>
                      <a:pt x="1914" y="3576"/>
                    </a:lnTo>
                    <a:lnTo>
                      <a:pt x="0" y="5490"/>
                    </a:lnTo>
                    <a:lnTo>
                      <a:pt x="1680" y="7169"/>
                    </a:lnTo>
                    <a:lnTo>
                      <a:pt x="5273" y="3576"/>
                    </a:lnTo>
                    <a:lnTo>
                      <a:pt x="168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" name="Google Shape;361;p24"/>
            <p:cNvSpPr txBox="1"/>
            <p:nvPr/>
          </p:nvSpPr>
          <p:spPr>
            <a:xfrm>
              <a:off x="8886175" y="5772327"/>
              <a:ext cx="3163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IN" sz="2000" u="none" cap="none" strike="noStrik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Thank You..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2" name="Google Shape;362;p24"/>
          <p:cNvSpPr txBox="1"/>
          <p:nvPr/>
        </p:nvSpPr>
        <p:spPr>
          <a:xfrm>
            <a:off x="450774" y="1698638"/>
            <a:ext cx="110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Mentorship/Networking/Co-working Space etc…</a:t>
            </a:r>
            <a:endParaRPr b="0" i="0" sz="2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3" name="Google Shape;363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>
                <a:solidFill>
                  <a:schemeClr val="dk1"/>
                </a:solidFill>
              </a:rPr>
              <a:t>DD-MM-YYYY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