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9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76A47C-0E21-427E-B185-4D6E10B49810}">
  <a:tblStyle styleId="{F676A47C-0E21-427E-B185-4D6E10B498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29a750ea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8" name="Google Shape;128;g3b29a750ea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9" name="Google Shape;129;g3b29a750ea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2</a:t>
            </a:fld>
            <a:endParaRPr dirty="0"/>
          </a:p>
        </p:txBody>
      </p:sp>
      <p:sp>
        <p:nvSpPr>
          <p:cNvPr id="130" name="Google Shape;130;g3b29a750eaf_1_2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131" name="Google Shape;131;g3b29a750eaf_1_2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132" name="Google Shape;132;g3b29a750eaf_1_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20bcf8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5" name="Google Shape;105;g3b420bcf8a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" name="Google Shape;106;g3b420bcf8a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3</a:t>
            </a:fld>
            <a:endParaRPr dirty="0"/>
          </a:p>
        </p:txBody>
      </p:sp>
      <p:sp>
        <p:nvSpPr>
          <p:cNvPr id="107" name="Google Shape;107;g3b420bcf8ab_0_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108" name="Google Shape;108;g3b420bcf8ab_0_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109" name="Google Shape;109;g3b420bcf8ab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420bcf8a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2" name="Google Shape;152;g3b420bcf8ab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3" name="Google Shape;153;g3b420bcf8ab_0_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4</a:t>
            </a:fld>
            <a:endParaRPr dirty="0"/>
          </a:p>
        </p:txBody>
      </p:sp>
      <p:sp>
        <p:nvSpPr>
          <p:cNvPr id="154" name="Google Shape;154;g3b420bcf8ab_0_10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155" name="Google Shape;155;g3b420bcf8ab_0_10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156" name="Google Shape;156;g3b420bcf8ab_0_10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98963A27-485D-55F3-3D23-71ACEDB9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29a750eaf_1_0:notes">
            <a:extLst>
              <a:ext uri="{FF2B5EF4-FFF2-40B4-BE49-F238E27FC236}">
                <a16:creationId xmlns:a16="http://schemas.microsoft.com/office/drawing/2014/main" id="{73BD3E44-D6F4-471E-7588-C823E0883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5" name="Google Shape;175;g3b29a750eaf_1_0:notes">
            <a:extLst>
              <a:ext uri="{FF2B5EF4-FFF2-40B4-BE49-F238E27FC236}">
                <a16:creationId xmlns:a16="http://schemas.microsoft.com/office/drawing/2014/main" id="{2FEC63D6-F9FB-7BD2-8F2E-D023020B8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6" name="Google Shape;176;g3b29a750eaf_1_0:notes">
            <a:extLst>
              <a:ext uri="{FF2B5EF4-FFF2-40B4-BE49-F238E27FC236}">
                <a16:creationId xmlns:a16="http://schemas.microsoft.com/office/drawing/2014/main" id="{2E314590-9577-3636-254F-5FF417C909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5</a:t>
            </a:fld>
            <a:endParaRPr dirty="0"/>
          </a:p>
        </p:txBody>
      </p:sp>
      <p:sp>
        <p:nvSpPr>
          <p:cNvPr id="177" name="Google Shape;177;g3b29a750eaf_1_0:notes">
            <a:extLst>
              <a:ext uri="{FF2B5EF4-FFF2-40B4-BE49-F238E27FC236}">
                <a16:creationId xmlns:a16="http://schemas.microsoft.com/office/drawing/2014/main" id="{6B313354-D1EC-4347-56BB-EB444F939FC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178" name="Google Shape;178;g3b29a750eaf_1_0:notes">
            <a:extLst>
              <a:ext uri="{FF2B5EF4-FFF2-40B4-BE49-F238E27FC236}">
                <a16:creationId xmlns:a16="http://schemas.microsoft.com/office/drawing/2014/main" id="{8083D10E-2CE5-9677-D32A-43034C8A94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179" name="Google Shape;179;g3b29a750eaf_1_0:notes">
            <a:extLst>
              <a:ext uri="{FF2B5EF4-FFF2-40B4-BE49-F238E27FC236}">
                <a16:creationId xmlns:a16="http://schemas.microsoft.com/office/drawing/2014/main" id="{65B0A2C3-2A9F-EABC-DE0A-E3F9A90E300C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7198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24ff804e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7" name="Google Shape;197;g3b24ff804e0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8" name="Google Shape;198;g3b24ff804e0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6</a:t>
            </a:fld>
            <a:endParaRPr dirty="0"/>
          </a:p>
        </p:txBody>
      </p:sp>
      <p:sp>
        <p:nvSpPr>
          <p:cNvPr id="199" name="Google Shape;199;g3b24ff804e0_0_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200" name="Google Shape;200;g3b24ff804e0_0_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201" name="Google Shape;201;g3b24ff804e0_0_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420bcf8a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0" name="Google Shape;220;g3b420bcf8ab_0_2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" name="Google Shape;221;g3b420bcf8ab_0_2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7</a:t>
            </a:fld>
            <a:endParaRPr dirty="0"/>
          </a:p>
        </p:txBody>
      </p:sp>
      <p:sp>
        <p:nvSpPr>
          <p:cNvPr id="222" name="Google Shape;222;g3b420bcf8ab_0_204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223" name="Google Shape;223;g3b420bcf8ab_0_20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224" name="Google Shape;224;g3b420bcf8ab_0_20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420bcf8ab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5" name="Google Shape;245;g3b420bcf8ab_0_3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6" name="Google Shape;246;g3b420bcf8ab_0_3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8</a:t>
            </a:fld>
            <a:endParaRPr dirty="0"/>
          </a:p>
        </p:txBody>
      </p:sp>
      <p:sp>
        <p:nvSpPr>
          <p:cNvPr id="247" name="Google Shape;247;g3b420bcf8ab_0_30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248" name="Google Shape;248;g3b420bcf8ab_0_302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249" name="Google Shape;249;g3b420bcf8ab_0_30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420bcf8ab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0" name="Google Shape;270;g3b420bcf8ab_0_5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71" name="Google Shape;271;g3b420bcf8ab_0_5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9</a:t>
            </a:fld>
            <a:endParaRPr dirty="0"/>
          </a:p>
        </p:txBody>
      </p:sp>
      <p:sp>
        <p:nvSpPr>
          <p:cNvPr id="272" name="Google Shape;272;g3b420bcf8ab_0_50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273" name="Google Shape;273;g3b420bcf8ab_0_50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274" name="Google Shape;274;g3b420bcf8ab_0_50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420bcf8ab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4" name="Google Shape;294;g3b420bcf8ab_0_5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5" name="Google Shape;295;g3b420bcf8ab_0_5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10</a:t>
            </a:fld>
            <a:endParaRPr dirty="0"/>
          </a:p>
        </p:txBody>
      </p:sp>
      <p:sp>
        <p:nvSpPr>
          <p:cNvPr id="296" name="Google Shape;296;g3b420bcf8ab_0_54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297" name="Google Shape;297;g3b420bcf8ab_0_54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298" name="Google Shape;298;g3b420bcf8ab_0_54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b2b86e32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4" name="Google Shape;344;g3ab2b86e324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5" name="Google Shape;345;g3ab2b86e324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11</a:t>
            </a:fld>
            <a:endParaRPr dirty="0"/>
          </a:p>
        </p:txBody>
      </p:sp>
      <p:sp>
        <p:nvSpPr>
          <p:cNvPr id="346" name="Google Shape;346;g3ab2b86e324_0_2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347" name="Google Shape;347;g3ab2b86e324_0_2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348" name="Google Shape;348;g3ab2b86e324_0_2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88A496A5-EA74-31A1-D063-673F4564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b2b86e324_0_23:notes">
            <a:extLst>
              <a:ext uri="{FF2B5EF4-FFF2-40B4-BE49-F238E27FC236}">
                <a16:creationId xmlns:a16="http://schemas.microsoft.com/office/drawing/2014/main" id="{3C3E2EA6-DDAB-3AB2-3423-925824516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4" name="Google Shape;344;g3ab2b86e324_0_23:notes">
            <a:extLst>
              <a:ext uri="{FF2B5EF4-FFF2-40B4-BE49-F238E27FC236}">
                <a16:creationId xmlns:a16="http://schemas.microsoft.com/office/drawing/2014/main" id="{8040BF81-6178-E24E-325E-C1826B85E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5" name="Google Shape;345;g3ab2b86e324_0_23:notes">
            <a:extLst>
              <a:ext uri="{FF2B5EF4-FFF2-40B4-BE49-F238E27FC236}">
                <a16:creationId xmlns:a16="http://schemas.microsoft.com/office/drawing/2014/main" id="{6982AD7A-7107-1A7C-9911-7A5AF64947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12</a:t>
            </a:fld>
            <a:endParaRPr dirty="0"/>
          </a:p>
        </p:txBody>
      </p:sp>
      <p:sp>
        <p:nvSpPr>
          <p:cNvPr id="346" name="Google Shape;346;g3ab2b86e324_0_23:notes">
            <a:extLst>
              <a:ext uri="{FF2B5EF4-FFF2-40B4-BE49-F238E27FC236}">
                <a16:creationId xmlns:a16="http://schemas.microsoft.com/office/drawing/2014/main" id="{BDB5AFC9-5E05-9063-0BA9-389E18CFAF5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23-Jan-2025</a:t>
            </a:r>
            <a:endParaRPr dirty="0"/>
          </a:p>
        </p:txBody>
      </p:sp>
      <p:sp>
        <p:nvSpPr>
          <p:cNvPr id="347" name="Google Shape;347;g3ab2b86e324_0_23:notes">
            <a:extLst>
              <a:ext uri="{FF2B5EF4-FFF2-40B4-BE49-F238E27FC236}">
                <a16:creationId xmlns:a16="http://schemas.microsoft.com/office/drawing/2014/main" id="{5FEAED5D-C3AE-4922-97D0-97AFA50FE0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Name of the Faculty</a:t>
            </a:r>
            <a:endParaRPr dirty="0"/>
          </a:p>
        </p:txBody>
      </p:sp>
      <p:sp>
        <p:nvSpPr>
          <p:cNvPr id="348" name="Google Shape;348;g3ab2b86e324_0_23:notes">
            <a:extLst>
              <a:ext uri="{FF2B5EF4-FFF2-40B4-BE49-F238E27FC236}">
                <a16:creationId xmlns:a16="http://schemas.microsoft.com/office/drawing/2014/main" id="{B03C95F4-1A17-3F79-D4A4-B7F79557BDDF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Title of the Lecture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54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93" name="Google Shape;93;p1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rot="10800000" flipH="1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447039" y="2656957"/>
            <a:ext cx="10474353" cy="3256218"/>
            <a:chOff x="447039" y="2656957"/>
            <a:chExt cx="6897768" cy="3256218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447039" y="2656957"/>
              <a:ext cx="681679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IN" sz="6000" b="1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  <a:endParaRPr sz="6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467607" y="4158889"/>
              <a:ext cx="6877200" cy="1754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Date: 21/08/2026</a:t>
              </a:r>
              <a:endParaRPr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Name of the Presenter: Prajapati Dev</a:t>
              </a:r>
              <a:endParaRPr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Email Id: 25smc04007@gsfcuniversity.ac.in</a:t>
              </a:r>
              <a:endParaRPr sz="18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IN" sz="18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Mobile No.: 7984683571</a:t>
              </a:r>
              <a:endParaRPr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529337" y="896634"/>
            <a:ext cx="10824463" cy="891025"/>
            <a:chOff x="529337" y="896634"/>
            <a:chExt cx="10824463" cy="891025"/>
          </a:xfrm>
        </p:grpSpPr>
        <p:pic>
          <p:nvPicPr>
            <p:cNvPr id="99" name="Google Shape;99;p13"/>
            <p:cNvPicPr preferRelativeResize="0"/>
            <p:nvPr/>
          </p:nvPicPr>
          <p:blipFill rotWithShape="1">
            <a:blip r:embed="rId3">
              <a:alphaModFix/>
            </a:blip>
            <a:srcRect t="27017" b="26057"/>
            <a:stretch/>
          </p:blipFill>
          <p:spPr>
            <a:xfrm>
              <a:off x="529337" y="896634"/>
              <a:ext cx="1898904" cy="891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" name="Google Shape;100;p13"/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103" name="TextBox 102"/>
          <p:cNvSpPr txBox="1"/>
          <p:nvPr/>
        </p:nvSpPr>
        <p:spPr>
          <a:xfrm>
            <a:off x="1097280" y="1645920"/>
            <a:ext cx="98755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StudyHub</a:t>
            </a:r>
          </a:p>
          <a:p>
            <a:pPr algn="ctr"/>
            <a:r>
              <a:rPr sz="28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Project Report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7039" y="3731088"/>
            <a:ext cx="53335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Premium AI-Powered Learning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5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37" name="Google Shape;13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9" name="Google Shape;139;p15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IN" sz="1200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  <a:endParaRPr sz="12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endParaRPr>
            </a:p>
          </p:txBody>
        </p:sp>
        <p:grpSp>
          <p:nvGrpSpPr>
            <p:cNvPr id="142" name="Google Shape;142;p15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43" name="Google Shape;143;p15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145" name="Google Shape;145;p15"/>
          <p:cNvSpPr txBox="1"/>
          <p:nvPr/>
        </p:nvSpPr>
        <p:spPr>
          <a:xfrm>
            <a:off x="450774" y="900322"/>
            <a:ext cx="1099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Innovation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450774" y="1698638"/>
            <a:ext cx="110724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materials are scattered across WhatsApp, Google Drive, email, and physical notes.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centralized, structured platform for university-level academic content management.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personalized AI help — dependent on teacher availability for doubt-clearing.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performance tracking: students can't measure their own progress or study consistency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8" name="Google Shape;14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14" name="Google Shape;1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  <a:endParaRPr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" name="Google Shape;117;p14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18" name="Google Shape;118;p14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4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120" name="Google Shape;120;p14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123" name="Google Shape;123;p14"/>
          <p:cNvSpPr txBox="1"/>
          <p:nvPr/>
        </p:nvSpPr>
        <p:spPr>
          <a:xfrm>
            <a:off x="450774" y="900322"/>
            <a:ext cx="577629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Elevator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50774" y="1698638"/>
            <a:ext cx="110724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StudyHub is a premium AI-powered Learning Management System (LMS) built for Universi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ties and Schools </a:t>
            </a: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M.Sc. Data Science students — bridging the gap between teachers and students.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Solves fragmented study resources: Centralizes PDFs, videos, notes, PYQs and AI tutoring.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with React 18 + Vite (Frontend), Django REST Framework (Backend), PostgreSQL (Database)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differentiator: Integrated Google Gemini AI with RAG — answers only from uploaded materials.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(streaks, badges, XP levels) ensures long-term student engagement and motivation.</a:t>
            </a:r>
            <a:b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scope: 12 students, 1 admin, M.Sc. Data Science — Phase 1 of a 6-phase roadmap.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6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3" name="Google Shape;163;p16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64" name="Google Shape;164;p16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6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166" name="Google Shape;166;p16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67" name="Google Shape;167;p16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168" name="Google Shape;168;p16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169" name="Google Shape;169;p16"/>
          <p:cNvSpPr txBox="1"/>
          <p:nvPr/>
        </p:nvSpPr>
        <p:spPr>
          <a:xfrm>
            <a:off x="450774" y="900322"/>
            <a:ext cx="1099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Current Status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450774" y="1698638"/>
            <a:ext cx="110724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18 + Vite with 'Glassmorphic' aesthetic, custom theme engine, micro-animations.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Django REST Framework (DRF) with JWT authentication, PostgreSQL for data storage.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Engine: Google Gemini API + RAG (Retrieval-Augmented Generation) — material-aware chatbot.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hierarchy (Course→Subject→Topic→Material) with public/private access control.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</a:t>
            </a: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 performance graphs, study streak tracking, AI interaction history.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Trash/CMS system: multi-select bulk restore/delete for material management by admins.</a:t>
            </a:r>
            <a:b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2FA (TOTP + backup codes), Password History, Login Activity tracking for security.</a:t>
            </a:r>
          </a:p>
        </p:txBody>
      </p:sp>
      <p:sp>
        <p:nvSpPr>
          <p:cNvPr id="172" name="Google Shape;17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40A632D0-1AD8-3D0A-F63E-3D53D1DF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7">
            <a:extLst>
              <a:ext uri="{FF2B5EF4-FFF2-40B4-BE49-F238E27FC236}">
                <a16:creationId xmlns:a16="http://schemas.microsoft.com/office/drawing/2014/main" id="{47B20AF8-4FB5-58CF-0A41-E73CB5BC8AC4}"/>
              </a:ext>
            </a:extLst>
          </p:cNvPr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82" name="Google Shape;182;p17">
              <a:extLst>
                <a:ext uri="{FF2B5EF4-FFF2-40B4-BE49-F238E27FC236}">
                  <a16:creationId xmlns:a16="http://schemas.microsoft.com/office/drawing/2014/main" id="{CB5EA42B-97B5-21E6-30E8-60BE8007791A}"/>
                </a:ext>
              </a:extLst>
            </p:cNvPr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1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83" name="Google Shape;183;p17">
              <a:extLst>
                <a:ext uri="{FF2B5EF4-FFF2-40B4-BE49-F238E27FC236}">
                  <a16:creationId xmlns:a16="http://schemas.microsoft.com/office/drawing/2014/main" id="{BB1860D6-42EA-A9FB-00A0-A772B0957BA5}"/>
                </a:ext>
              </a:extLst>
            </p:cNvPr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1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93" name="Google Shape;193;p17">
            <a:extLst>
              <a:ext uri="{FF2B5EF4-FFF2-40B4-BE49-F238E27FC236}">
                <a16:creationId xmlns:a16="http://schemas.microsoft.com/office/drawing/2014/main" id="{59A96A67-5AFA-39F4-075B-8626370CF50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F3B44640-53BD-FD46-5B0B-D54EBC0D9F5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0FBA7A28-A779-EDF2-0851-0ABD7270A3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IN" sz="1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5</a:t>
            </a:fld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6" name="Google Shape;186;p17">
            <a:extLst>
              <a:ext uri="{FF2B5EF4-FFF2-40B4-BE49-F238E27FC236}">
                <a16:creationId xmlns:a16="http://schemas.microsoft.com/office/drawing/2014/main" id="{AECE6A1A-1A2C-8D42-858C-3D16781F4117}"/>
              </a:ext>
            </a:extLst>
          </p:cNvPr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87" name="Google Shape;187;p17">
              <a:extLst>
                <a:ext uri="{FF2B5EF4-FFF2-40B4-BE49-F238E27FC236}">
                  <a16:creationId xmlns:a16="http://schemas.microsoft.com/office/drawing/2014/main" id="{3FD9E9B9-618A-C2EA-ADA7-563445C7A74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7">
              <a:extLst>
                <a:ext uri="{FF2B5EF4-FFF2-40B4-BE49-F238E27FC236}">
                  <a16:creationId xmlns:a16="http://schemas.microsoft.com/office/drawing/2014/main" id="{E702B333-85EC-A029-8D50-708352EA0749}"/>
                </a:ext>
              </a:extLst>
            </p:cNvPr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189" name="Google Shape;189;p17">
              <a:extLst>
                <a:ext uri="{FF2B5EF4-FFF2-40B4-BE49-F238E27FC236}">
                  <a16:creationId xmlns:a16="http://schemas.microsoft.com/office/drawing/2014/main" id="{7BD45F96-8BFA-911B-64D9-25AA5DB368E6}"/>
                </a:ext>
              </a:extLst>
            </p:cNvPr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90" name="Google Shape;190;p17">
                <a:extLst>
                  <a:ext uri="{FF2B5EF4-FFF2-40B4-BE49-F238E27FC236}">
                    <a16:creationId xmlns:a16="http://schemas.microsoft.com/office/drawing/2014/main" id="{D3744CA5-ED0A-0E2E-7C14-BA113F54554B}"/>
                  </a:ext>
                </a:extLst>
              </p:cNvPr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191" name="Google Shape;191;p17">
                <a:extLst>
                  <a:ext uri="{FF2B5EF4-FFF2-40B4-BE49-F238E27FC236}">
                    <a16:creationId xmlns:a16="http://schemas.microsoft.com/office/drawing/2014/main" id="{265B7455-E782-8ADD-3816-9EE653436129}"/>
                  </a:ext>
                </a:extLst>
              </p:cNvPr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194" name="Google Shape;194;p17">
            <a:extLst>
              <a:ext uri="{FF2B5EF4-FFF2-40B4-BE49-F238E27FC236}">
                <a16:creationId xmlns:a16="http://schemas.microsoft.com/office/drawing/2014/main" id="{E6B37082-4A1D-126D-58E3-FDA1899F2458}"/>
              </a:ext>
            </a:extLst>
          </p:cNvPr>
          <p:cNvSpPr txBox="1"/>
          <p:nvPr/>
        </p:nvSpPr>
        <p:spPr>
          <a:xfrm>
            <a:off x="450775" y="933350"/>
            <a:ext cx="117411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C99F22-A411-210D-FED8-8AE4F16C7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24" y="1579469"/>
            <a:ext cx="8879840" cy="458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9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8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06" name="Google Shape;20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207" name="Google Shape;20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8" name="Google Shape;208;p18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09" name="Google Shape;209;p18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8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211" name="Google Shape;211;p18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214" name="Google Shape;214;p18"/>
          <p:cNvSpPr txBox="1"/>
          <p:nvPr/>
        </p:nvSpPr>
        <p:spPr>
          <a:xfrm>
            <a:off x="450774" y="900322"/>
            <a:ext cx="1099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Product Description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450774" y="1616342"/>
            <a:ext cx="11072400" cy="349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 login, 2FA (TOTP), session management, auto-credential caching.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CMS (Content Management): Admins upload PDFs, videos, links; 4-level academic hierarchy.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Study Bot: Ask questions from study material; auto-generated summaries, memory tricks.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Insights: Score trends, daily logs, streak tracking, level progression graphs.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Gamification: XP points, badge system (Fast Learner, Consistent Scholar), study levels.</a:t>
            </a:r>
            <a:b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Mode: Distraction-free study sessions with session logs.</a:t>
            </a:r>
            <a:b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Assessments: Teacher-created objective tests; AI auto-grading with score feedback.</a:t>
            </a:r>
          </a:p>
        </p:txBody>
      </p:sp>
      <p:sp>
        <p:nvSpPr>
          <p:cNvPr id="217" name="Google Shape;21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19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29" name="Google Shape;22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230" name="Google Shape;23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1" name="Google Shape;231;p19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32" name="Google Shape;232;p19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9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234" name="Google Shape;234;p19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237" name="Google Shape;237;p19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450774" y="1497470"/>
            <a:ext cx="11072400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AI-First: Gemini-powered RAG bot answers from actual uploaded content — not generic internet.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All-in-one: Study materials + Tests + AI tutoring + Gamification in a single platform.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UX: Glassmorphic design with micro-animations — feels like a consumer app, not a tool.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Learning: Course→Subject→Topic hierarchy replaces chaotic folder/WhatsApp groups.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Data-Driven: Real-time performance analytics help students identify weak areas.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Efficiency: Bulk upload, visibility control, student management in one dashboard.</a:t>
            </a:r>
          </a:p>
        </p:txBody>
      </p:sp>
      <p:sp>
        <p:nvSpPr>
          <p:cNvPr id="240" name="Google Shape;240;p19"/>
          <p:cNvSpPr txBox="1"/>
          <p:nvPr/>
        </p:nvSpPr>
        <p:spPr>
          <a:xfrm>
            <a:off x="450711" y="355037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Differentiator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50711" y="4147520"/>
            <a:ext cx="110724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Material-grounded 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(RAG) 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just ChatGPT but a subject-specific tutor.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University-grade security with RBAC, 2FA, and immutable audit logs.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layer that drives daily engagement and study streaks.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Offline-ready architecture planned for future phases.</a:t>
            </a:r>
          </a:p>
        </p:txBody>
      </p:sp>
      <p:sp>
        <p:nvSpPr>
          <p:cNvPr id="242" name="Google Shape;2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0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52" name="Google Shape;252;p20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54" name="Google Shape;25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6" name="Google Shape;256;p20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57" name="Google Shape;257;p20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0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259" name="Google Shape;259;p20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261" name="Google Shape;261;p20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262" name="Google Shape;262;p20"/>
          <p:cNvSpPr txBox="1"/>
          <p:nvPr/>
        </p:nvSpPr>
        <p:spPr>
          <a:xfrm>
            <a:off x="450774" y="900322"/>
            <a:ext cx="653524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Validation &amp; Target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450774" y="1470038"/>
            <a:ext cx="110724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Deployed for 12 M.Sc. Data Science students (Previous Year &amp; Final Year cohorts).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Admin (Professor/Teacher) actively managing materials and tests.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academic content uploaded: PDFs, Notes, PYQs, Practice Questions.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loop 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streaks and badge system validated for engagement.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bot tested with actual course material for Q&amp;A accuracy via RAG.</a:t>
            </a:r>
          </a:p>
        </p:txBody>
      </p:sp>
      <p:sp>
        <p:nvSpPr>
          <p:cNvPr id="265" name="Google Shape;265;p20"/>
          <p:cNvSpPr txBox="1"/>
          <p:nvPr/>
        </p:nvSpPr>
        <p:spPr>
          <a:xfrm>
            <a:off x="450786" y="3229231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50786" y="3853811"/>
            <a:ext cx="11072400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Universities, colleges, coaching institutes, and K-12 schools.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1: GSFC University 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 students, 1 admin.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2-3 : Multi-university rollout, school categories (Nursery → Higher Secondary).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4-6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exam prep (JEE, NEET, GATE), external courses with certificates.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are primary customers.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1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79" name="Google Shape;2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1" name="Google Shape;281;p21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82" name="Google Shape;282;p21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1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284" name="Google Shape;284;p21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85" name="Google Shape;285;p21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287" name="Google Shape;287;p21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Landscape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291" name="Google Shape;29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0EE98-4318-4422-CF9E-552033FF8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056910"/>
              </p:ext>
            </p:extLst>
          </p:nvPr>
        </p:nvGraphicFramePr>
        <p:xfrm>
          <a:off x="450774" y="1688176"/>
          <a:ext cx="10515600" cy="4008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341918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329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67829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636461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3611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LMS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Differentiator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25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Classroom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Classroom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ecosystem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97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Moodle / Canvas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 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Customization &amp;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68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 / Claude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an 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tutoring &amp;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668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+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AI ecosystem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3697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Courses &amp; certifications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113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Institutional AI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+ Analytics + Focus + Tests + Gamification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0172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301" name="Google Shape;301;p22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303" name="Google Shape;30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304" name="Google Shape;30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5" name="Google Shape;305;p22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306" name="Google Shape;306;p22"/>
            <p:cNvPicPr preferRelativeResize="0"/>
            <p:nvPr/>
          </p:nvPicPr>
          <p:blipFill rotWithShape="1">
            <a:blip r:embed="rId3">
              <a:alphaModFix/>
            </a:blip>
            <a:srcRect t="27017" b="26056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2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IN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StudyHub</a:t>
              </a:r>
            </a:p>
          </p:txBody>
        </p:sp>
        <p:grpSp>
          <p:nvGrpSpPr>
            <p:cNvPr id="308" name="Google Shape;308;p22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309" name="Google Shape;309;p22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</p:grpSp>
      <p:sp>
        <p:nvSpPr>
          <p:cNvPr id="311" name="Google Shape;311;p22"/>
          <p:cNvSpPr txBox="1"/>
          <p:nvPr/>
        </p:nvSpPr>
        <p:spPr>
          <a:xfrm>
            <a:off x="450776" y="900325"/>
            <a:ext cx="770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Roadmap &amp; Development Phases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294724" y="1575596"/>
            <a:ext cx="11072400" cy="29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(Current): M.Sc. Data Science, GSFC University </a:t>
            </a:r>
            <a:r>
              <a:rPr lang="en-IN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 students, 1 admin 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Multi-admin support + additional university courses.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3: School categories 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Nursery, Primary, Secondary, Higher Secondary.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4: Competitive exam prep </a:t>
            </a:r>
            <a: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JEE, NEET, GATE modules.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 External/Extra courses with Certificate + 100% fee refund program.</a:t>
            </a:r>
            <a:br>
              <a:rPr lang="en-US"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7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sz="17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6: Scale to multiple universities and schools across India.</a:t>
            </a:r>
          </a:p>
        </p:txBody>
      </p:sp>
      <p:sp>
        <p:nvSpPr>
          <p:cNvPr id="317" name="Google Shape;31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4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351" name="Google Shape;351;p24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352" name="Google Shape;352;p24"/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353" name="Google Shape;3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sp>
        <p:nvSpPr>
          <p:cNvPr id="355" name="Google Shape;355;p24"/>
          <p:cNvSpPr txBox="1"/>
          <p:nvPr/>
        </p:nvSpPr>
        <p:spPr>
          <a:xfrm>
            <a:off x="450775" y="900325"/>
            <a:ext cx="97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pic>
        <p:nvPicPr>
          <p:cNvPr id="357" name="Google Shape;357;p24"/>
          <p:cNvPicPr preferRelativeResize="0"/>
          <p:nvPr/>
        </p:nvPicPr>
        <p:blipFill rotWithShape="1">
          <a:blip r:embed="rId3">
            <a:alphaModFix/>
          </a:blip>
          <a:srcRect t="27014" b="26058"/>
          <a:stretch/>
        </p:blipFill>
        <p:spPr>
          <a:xfrm>
            <a:off x="450775" y="170727"/>
            <a:ext cx="941559" cy="44180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4"/>
          <p:cNvSpPr txBox="1"/>
          <p:nvPr/>
        </p:nvSpPr>
        <p:spPr>
          <a:xfrm>
            <a:off x="450774" y="1552334"/>
            <a:ext cx="110724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StudyHub is an AI-powered institutional learning platform designed to bring academic materials, AI assistance, assessments, analytics, focus tools, and gamification into one platform.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 traditional LMS or standalone AI tool, StudyHub focuses on connecting the university's curriculum and learning data with AI to create a more personalized and engaging learning experience.</a:t>
            </a:r>
          </a:p>
        </p:txBody>
      </p:sp>
      <p:sp>
        <p:nvSpPr>
          <p:cNvPr id="363" name="Google Shape;36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487E3-8325-06B7-C1BD-8DFDEC9B021E}"/>
              </a:ext>
            </a:extLst>
          </p:cNvPr>
          <p:cNvSpPr txBox="1"/>
          <p:nvPr/>
        </p:nvSpPr>
        <p:spPr>
          <a:xfrm>
            <a:off x="450774" y="3142275"/>
            <a:ext cx="1066833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  <a:p>
            <a:pPr lvl="0"/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core LMS features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AI &amp; RAG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learning analytics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Google Classroom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StudyHub at GSFC University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&amp; improve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E36064F3-198B-F4E7-161A-CC3473BF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4">
            <a:extLst>
              <a:ext uri="{FF2B5EF4-FFF2-40B4-BE49-F238E27FC236}">
                <a16:creationId xmlns:a16="http://schemas.microsoft.com/office/drawing/2014/main" id="{2FBB5D85-1E8E-55E0-F072-FCDB7B178176}"/>
              </a:ext>
            </a:extLst>
          </p:cNvPr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351" name="Google Shape;351;p24">
              <a:extLst>
                <a:ext uri="{FF2B5EF4-FFF2-40B4-BE49-F238E27FC236}">
                  <a16:creationId xmlns:a16="http://schemas.microsoft.com/office/drawing/2014/main" id="{11D17D7F-7486-4A0B-21D8-652FAC453D0A}"/>
                </a:ext>
              </a:extLst>
            </p:cNvPr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352" name="Google Shape;352;p24">
              <a:extLst>
                <a:ext uri="{FF2B5EF4-FFF2-40B4-BE49-F238E27FC236}">
                  <a16:creationId xmlns:a16="http://schemas.microsoft.com/office/drawing/2014/main" id="{AC09F456-24A5-F02A-DAD0-2D94FBCFD970}"/>
                </a:ext>
              </a:extLst>
            </p:cNvPr>
            <p:cNvSpPr/>
            <p:nvPr/>
          </p:nvSpPr>
          <p:spPr>
            <a:xfrm rot="10800000" flipH="1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353" name="Google Shape;353;p24">
            <a:extLst>
              <a:ext uri="{FF2B5EF4-FFF2-40B4-BE49-F238E27FC236}">
                <a16:creationId xmlns:a16="http://schemas.microsoft.com/office/drawing/2014/main" id="{A23F3AE5-139E-1CDA-05FD-D7F92E812F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4" name="Google Shape;354;p24">
            <a:extLst>
              <a:ext uri="{FF2B5EF4-FFF2-40B4-BE49-F238E27FC236}">
                <a16:creationId xmlns:a16="http://schemas.microsoft.com/office/drawing/2014/main" id="{BAECE604-B1CA-D9FB-CE4A-F157676BA6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it-IT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Prajapati Dev, M.Sc. Data Science</a:t>
            </a:r>
          </a:p>
        </p:txBody>
      </p:sp>
      <p:grpSp>
        <p:nvGrpSpPr>
          <p:cNvPr id="356" name="Google Shape;356;p24">
            <a:extLst>
              <a:ext uri="{FF2B5EF4-FFF2-40B4-BE49-F238E27FC236}">
                <a16:creationId xmlns:a16="http://schemas.microsoft.com/office/drawing/2014/main" id="{993C9945-7375-8A53-E7D2-DE3651C150EE}"/>
              </a:ext>
            </a:extLst>
          </p:cNvPr>
          <p:cNvGrpSpPr/>
          <p:nvPr/>
        </p:nvGrpSpPr>
        <p:grpSpPr>
          <a:xfrm>
            <a:off x="427860" y="170727"/>
            <a:ext cx="3502243" cy="6073261"/>
            <a:chOff x="427860" y="170727"/>
            <a:chExt cx="3502243" cy="6073261"/>
          </a:xfrm>
        </p:grpSpPr>
        <p:pic>
          <p:nvPicPr>
            <p:cNvPr id="357" name="Google Shape;357;p24">
              <a:extLst>
                <a:ext uri="{FF2B5EF4-FFF2-40B4-BE49-F238E27FC236}">
                  <a16:creationId xmlns:a16="http://schemas.microsoft.com/office/drawing/2014/main" id="{02549767-0799-3787-1649-9D41B3295F6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27014" b="2605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8" name="Google Shape;358;p24">
              <a:extLst>
                <a:ext uri="{FF2B5EF4-FFF2-40B4-BE49-F238E27FC236}">
                  <a16:creationId xmlns:a16="http://schemas.microsoft.com/office/drawing/2014/main" id="{8D2AE5D7-2D58-02F1-889F-458AB5E1C811}"/>
                </a:ext>
              </a:extLst>
            </p:cNvPr>
            <p:cNvGrpSpPr/>
            <p:nvPr/>
          </p:nvGrpSpPr>
          <p:grpSpPr>
            <a:xfrm>
              <a:off x="427860" y="5866415"/>
              <a:ext cx="338452" cy="212010"/>
              <a:chOff x="489722" y="1152759"/>
              <a:chExt cx="463569" cy="290385"/>
            </a:xfrm>
          </p:grpSpPr>
          <p:sp>
            <p:nvSpPr>
              <p:cNvPr id="359" name="Google Shape;359;p24">
                <a:extLst>
                  <a:ext uri="{FF2B5EF4-FFF2-40B4-BE49-F238E27FC236}">
                    <a16:creationId xmlns:a16="http://schemas.microsoft.com/office/drawing/2014/main" id="{C46A3DF6-13EE-488D-C63C-444373BA60AF}"/>
                  </a:ext>
                </a:extLst>
              </p:cNvPr>
              <p:cNvSpPr/>
              <p:nvPr/>
            </p:nvSpPr>
            <p:spPr>
              <a:xfrm>
                <a:off x="489722" y="1152759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360" name="Google Shape;360;p24">
                <a:extLst>
                  <a:ext uri="{FF2B5EF4-FFF2-40B4-BE49-F238E27FC236}">
                    <a16:creationId xmlns:a16="http://schemas.microsoft.com/office/drawing/2014/main" id="{11B73371-7F40-E5C7-B7E2-DBEBC095C01E}"/>
                  </a:ext>
                </a:extLst>
              </p:cNvPr>
              <p:cNvSpPr/>
              <p:nvPr/>
            </p:nvSpPr>
            <p:spPr>
              <a:xfrm>
                <a:off x="739734" y="1152759"/>
                <a:ext cx="213557" cy="290385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7170" extrusionOk="0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sp>
          <p:nvSpPr>
            <p:cNvPr id="361" name="Google Shape;361;p24">
              <a:extLst>
                <a:ext uri="{FF2B5EF4-FFF2-40B4-BE49-F238E27FC236}">
                  <a16:creationId xmlns:a16="http://schemas.microsoft.com/office/drawing/2014/main" id="{740F8508-E258-0482-8176-E3D54441E5C0}"/>
                </a:ext>
              </a:extLst>
            </p:cNvPr>
            <p:cNvSpPr txBox="1"/>
            <p:nvPr/>
          </p:nvSpPr>
          <p:spPr>
            <a:xfrm>
              <a:off x="766303" y="5690031"/>
              <a:ext cx="3163800" cy="553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IN" sz="2000" b="1" i="0" u="none" strike="noStrike" cap="none" dirty="0">
                  <a:solidFill>
                    <a:schemeClr val="tx1"/>
                  </a:solidFill>
                  <a:latin typeface="Times New Roman" panose="02020603050405020304" pitchFamily="18" charset="0"/>
                  <a:ea typeface="Verdana"/>
                  <a:cs typeface="Times New Roman" panose="02020603050405020304" pitchFamily="18" charset="0"/>
                  <a:sym typeface="Verdana"/>
                </a:rPr>
                <a:t>Thank You..</a:t>
              </a:r>
              <a:endParaRPr sz="1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363" name="Google Shape;363;p24">
            <a:extLst>
              <a:ext uri="{FF2B5EF4-FFF2-40B4-BE49-F238E27FC236}">
                <a16:creationId xmlns:a16="http://schemas.microsoft.com/office/drawing/2014/main" id="{43C04610-3863-D233-EF57-04AD4F233A0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25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1268</Words>
  <Application>Microsoft Office PowerPoint</Application>
  <PresentationFormat>Widescreen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 Prajapati</cp:lastModifiedBy>
  <cp:revision>18</cp:revision>
  <dcterms:modified xsi:type="dcterms:W3CDTF">2026-08-21T10:21:03Z</dcterms:modified>
</cp:coreProperties>
</file>